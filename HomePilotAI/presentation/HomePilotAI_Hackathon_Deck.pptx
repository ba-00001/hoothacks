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omepilot_thumbn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02920" y="502920"/>
            <a:ext cx="4846320" cy="1965960"/>
          </a:xfrm>
          <a:prstGeom prst="rect">
            <a:avLst/>
          </a:prstGeom>
          <a:solidFill>
            <a:srgbClr val="F7F2E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4389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spcBef="25400" spcAft="25400"/>
            <a:r>
              <a:rPr sz="3000" b="1">
                <a:solidFill>
                  <a:srgbClr val="1B2B2D"/>
                </a:solidFill>
              </a:rPr>
              <a:t>HomePilot AI</a:t>
            </a:r>
          </a:p>
          <a:p>
            <a:pPr spcBef="25400" spcAft="25400">
              <a:defRPr sz="1600">
                <a:solidFill>
                  <a:srgbClr val="1B2B2D"/>
                </a:solidFill>
              </a:defRPr>
            </a:pPr>
            <a:r>
              <a:rPr sz="1400">
                <a:solidFill>
                  <a:srgbClr val="5A6E70"/>
                </a:solidFill>
              </a:rPr>
              <a:t>AI for Good: helping people make safer, fairer housing decisions.</a:t>
            </a:r>
          </a:p>
          <a:p>
            <a:pPr spcBef="25400" spcAft="25400">
              <a:defRPr sz="1400">
                <a:solidFill>
                  <a:srgbClr val="12605D"/>
                </a:solidFill>
              </a:defRPr>
            </a:pPr>
            <a:r>
              <a:rPr sz="1100">
                <a:solidFill>
                  <a:srgbClr val="5A6E70"/>
                </a:solidFill>
              </a:rPr>
              <a:t>Hackathon MVP deck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spcBef="12700" spcAft="12700"/>
            <a:r>
              <a:rPr sz="2800" b="1">
                <a:solidFill>
                  <a:srgbClr val="1B2B2D"/>
                </a:solidFill>
              </a:rPr>
              <a:t>The Problem</a:t>
            </a:r>
          </a:p>
          <a:p>
            <a:pPr spcBef="12700" spcAft="12700"/>
            <a:r>
              <a:rPr sz="1300">
                <a:solidFill>
                  <a:srgbClr val="5A6E70"/>
                </a:solidFill>
              </a:rPr>
              <a:t>Housing affordability is confusing, fragmented, and time-consuming.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00200"/>
            <a:ext cx="5120640" cy="43891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spcBef="63500" spcAft="63500">
              <a:defRPr sz="2100">
                <a:solidFill>
                  <a:srgbClr val="1B2B2D"/>
                </a:solidFill>
              </a:defRPr>
            </a:pPr>
            <a:r>
              <a:rPr sz="1300">
                <a:solidFill>
                  <a:srgbClr val="1B2B2D"/>
                </a:solidFill>
              </a:rPr>
              <a:t>Renters and first-time buyers often do not know what they can safely afford.</a:t>
            </a:r>
          </a:p>
          <a:p>
            <a:pPr spcBef="63500" spcAft="63500">
              <a:defRPr sz="2100">
                <a:solidFill>
                  <a:srgbClr val="1B2B2D"/>
                </a:solidFill>
              </a:defRPr>
            </a:pPr>
            <a:r>
              <a:rPr sz="1300">
                <a:solidFill>
                  <a:srgbClr val="1B2B2D"/>
                </a:solidFill>
              </a:rPr>
              <a:t>Grant and assistance programs are hard to discover and even harder to compare.</a:t>
            </a:r>
          </a:p>
          <a:p>
            <a:pPr spcBef="63500" spcAft="63500">
              <a:defRPr sz="2100">
                <a:solidFill>
                  <a:srgbClr val="1B2B2D"/>
                </a:solidFill>
              </a:defRPr>
            </a:pPr>
            <a:r>
              <a:rPr sz="1300">
                <a:solidFill>
                  <a:srgbClr val="1B2B2D"/>
                </a:solidFill>
              </a:rPr>
              <a:t>Listing platforms show inventory, but not whether a home is realistic for a specific budget and household.</a:t>
            </a:r>
          </a:p>
          <a:p>
            <a:pPr spcBef="63500" spcAft="63500">
              <a:defRPr sz="2100">
                <a:solidFill>
                  <a:srgbClr val="1B2B2D"/>
                </a:solidFill>
              </a:defRPr>
            </a:pPr>
            <a:r>
              <a:rPr sz="1300">
                <a:solidFill>
                  <a:srgbClr val="1B2B2D"/>
                </a:solidFill>
              </a:rPr>
              <a:t>That creates wasted applications, delayed decisions, and less equitable access to stable housing.</a:t>
            </a:r>
          </a:p>
        </p:txBody>
      </p:sp>
      <p:pic>
        <p:nvPicPr>
          <p:cNvPr id="4" name="Picture 3" descr="homepilo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463040"/>
            <a:ext cx="2834640" cy="28346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spcBef="12700" spcAft="12700"/>
            <a:r>
              <a:rPr sz="2800" b="1">
                <a:solidFill>
                  <a:srgbClr val="1B2B2D"/>
                </a:solidFill>
              </a:rPr>
              <a:t>Our Solution</a:t>
            </a:r>
          </a:p>
          <a:p>
            <a:pPr spcBef="12700" spcAft="12700"/>
            <a:r>
              <a:rPr sz="1300">
                <a:solidFill>
                  <a:srgbClr val="5A6E70"/>
                </a:solidFill>
              </a:rPr>
              <a:t>HomePilot AI turns financial inputs into practical housing guidance.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00200"/>
            <a:ext cx="5486400" cy="43891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spcBef="63500" spcAft="63500">
              <a:defRPr sz="2100">
                <a:solidFill>
                  <a:srgbClr val="1B2B2D"/>
                </a:solidFill>
              </a:defRPr>
            </a:pPr>
            <a:r>
              <a:rPr sz="1300">
                <a:solidFill>
                  <a:srgbClr val="1B2B2D"/>
                </a:solidFill>
              </a:rPr>
              <a:t>Users create a profile with income, employment, household size, location, credit estimate, and rent-or-buy preference.</a:t>
            </a:r>
          </a:p>
          <a:p>
            <a:pPr spcBef="63500" spcAft="63500">
              <a:defRPr sz="2100">
                <a:solidFill>
                  <a:srgbClr val="1B2B2D"/>
                </a:solidFill>
              </a:defRPr>
            </a:pPr>
            <a:r>
              <a:rPr sz="1300">
                <a:solidFill>
                  <a:srgbClr val="1B2B2D"/>
                </a:solidFill>
              </a:rPr>
              <a:t>AI agents estimate affordability, rank listings, surface grants, and score mortgage readiness.</a:t>
            </a:r>
          </a:p>
          <a:p>
            <a:pPr spcBef="63500" spcAft="63500">
              <a:defRPr sz="2100">
                <a:solidFill>
                  <a:srgbClr val="1B2B2D"/>
                </a:solidFill>
              </a:defRPr>
            </a:pPr>
            <a:r>
              <a:rPr sz="1300">
                <a:solidFill>
                  <a:srgbClr val="1B2B2D"/>
                </a:solidFill>
              </a:rPr>
              <a:t>The dashboard gives a fast answer to the question: What can I actually pursue right now?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0" y="1645920"/>
            <a:ext cx="3383280" cy="658368"/>
          </a:xfrm>
          <a:prstGeom prst="roundRect">
            <a:avLst/>
          </a:prstGeom>
          <a:solidFill>
            <a:srgbClr val="12605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>
              <a:defRPr b="1" sz="2000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Affordability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0" y="2651760"/>
            <a:ext cx="3383280" cy="658368"/>
          </a:xfrm>
          <a:prstGeom prst="roundRect">
            <a:avLst/>
          </a:prstGeom>
          <a:solidFill>
            <a:srgbClr val="E59B3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>
              <a:defRPr b="1" sz="2000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Grants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0" y="3657600"/>
            <a:ext cx="3383280" cy="658368"/>
          </a:xfrm>
          <a:prstGeom prst="roundRect">
            <a:avLst/>
          </a:prstGeom>
          <a:solidFill>
            <a:srgbClr val="12605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>
              <a:defRPr b="1" sz="2000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Recommendations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4663440"/>
            <a:ext cx="3383280" cy="658368"/>
          </a:xfrm>
          <a:prstGeom prst="roundRect">
            <a:avLst/>
          </a:prstGeom>
          <a:solidFill>
            <a:srgbClr val="E59B3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>
              <a:defRPr b="1" sz="2000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Mortgage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spcBef="12700" spcAft="12700"/>
            <a:r>
              <a:rPr sz="2800" b="1">
                <a:solidFill>
                  <a:srgbClr val="1B2B2D"/>
                </a:solidFill>
              </a:rPr>
              <a:t>Why This Is AI for Good</a:t>
            </a:r>
          </a:p>
          <a:p>
            <a:pPr spcBef="12700" spcAft="12700"/>
            <a:r>
              <a:rPr sz="1300">
                <a:solidFill>
                  <a:srgbClr val="5A6E70"/>
                </a:solidFill>
              </a:rPr>
              <a:t>The demo addresses a real-world challenge outside college life.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00200"/>
            <a:ext cx="10607040" cy="43891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spcBef="63500" spcAft="63500">
              <a:defRPr sz="2100">
                <a:solidFill>
                  <a:srgbClr val="1B2B2D"/>
                </a:solidFill>
              </a:defRPr>
            </a:pPr>
            <a:r>
              <a:rPr sz="1300">
                <a:solidFill>
                  <a:srgbClr val="1B2B2D"/>
                </a:solidFill>
              </a:rPr>
              <a:t>We focus on housing equity, not convenience for its own sake.</a:t>
            </a:r>
          </a:p>
          <a:p>
            <a:pPr spcBef="63500" spcAft="63500">
              <a:defRPr sz="2100">
                <a:solidFill>
                  <a:srgbClr val="1B2B2D"/>
                </a:solidFill>
              </a:defRPr>
            </a:pPr>
            <a:r>
              <a:rPr sz="1300">
                <a:solidFill>
                  <a:srgbClr val="1B2B2D"/>
                </a:solidFill>
              </a:rPr>
              <a:t>The AI helps people avoid unaffordable choices before they invest time, money, and emotional energy.</a:t>
            </a:r>
          </a:p>
          <a:p>
            <a:pPr spcBef="63500" spcAft="63500">
              <a:defRPr sz="2100">
                <a:solidFill>
                  <a:srgbClr val="1B2B2D"/>
                </a:solidFill>
              </a:defRPr>
            </a:pPr>
            <a:r>
              <a:rPr sz="1300">
                <a:solidFill>
                  <a:srgbClr val="1B2B2D"/>
                </a:solidFill>
              </a:rPr>
              <a:t>It improves access to grants and assistance that users might otherwise never find.</a:t>
            </a:r>
          </a:p>
          <a:p>
            <a:pPr spcBef="63500" spcAft="63500">
              <a:defRPr sz="2100">
                <a:solidFill>
                  <a:srgbClr val="1B2B2D"/>
                </a:solidFill>
              </a:defRPr>
            </a:pPr>
            <a:r>
              <a:rPr sz="1300">
                <a:solidFill>
                  <a:srgbClr val="1B2B2D"/>
                </a:solidFill>
              </a:rPr>
              <a:t>The outcome is clearer, fairer, and more informed housing decisions for everyday households.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spcBef="12700" spcAft="12700"/>
            <a:r>
              <a:rPr sz="2800" b="1">
                <a:solidFill>
                  <a:srgbClr val="1B2B2D"/>
                </a:solidFill>
              </a:rPr>
              <a:t>Product Demo Flow</a:t>
            </a:r>
          </a:p>
          <a:p>
            <a:pPr spcBef="12700" spcAft="12700"/>
            <a:r>
              <a:rPr sz="1300">
                <a:solidFill>
                  <a:srgbClr val="5A6E70"/>
                </a:solidFill>
              </a:rPr>
              <a:t>What judges can see in under two minutes.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00200"/>
            <a:ext cx="5852160" cy="43891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spcBef="63500" spcAft="63500">
              <a:defRPr sz="2100">
                <a:solidFill>
                  <a:srgbClr val="1B2B2D"/>
                </a:solidFill>
              </a:defRPr>
            </a:pPr>
            <a:r>
              <a:rPr sz="1300">
                <a:solidFill>
                  <a:srgbClr val="1B2B2D"/>
                </a:solidFill>
              </a:rPr>
              <a:t>1. Log in with the seeded demo account or use offline fallback mode if the backend is unavailable.</a:t>
            </a:r>
          </a:p>
          <a:p>
            <a:pPr spcBef="63500" spcAft="63500">
              <a:defRPr sz="2100">
                <a:solidFill>
                  <a:srgbClr val="1B2B2D"/>
                </a:solidFill>
              </a:defRPr>
            </a:pPr>
            <a:r>
              <a:rPr sz="1300">
                <a:solidFill>
                  <a:srgbClr val="1B2B2D"/>
                </a:solidFill>
              </a:rPr>
              <a:t>2. Review the dashboard for rent range, purchase range, grants, and top listings.</a:t>
            </a:r>
          </a:p>
          <a:p>
            <a:pPr spcBef="63500" spcAft="63500">
              <a:defRPr sz="2100">
                <a:solidFill>
                  <a:srgbClr val="1B2B2D"/>
                </a:solidFill>
              </a:defRPr>
            </a:pPr>
            <a:r>
              <a:rPr sz="1300">
                <a:solidFill>
                  <a:srgbClr val="1B2B2D"/>
                </a:solidFill>
              </a:rPr>
              <a:t>3. Open recommendations and listings to compare budget fit and match scores.</a:t>
            </a:r>
          </a:p>
          <a:p>
            <a:pPr spcBef="63500" spcAft="63500">
              <a:defRPr sz="2100">
                <a:solidFill>
                  <a:srgbClr val="1B2B2D"/>
                </a:solidFill>
              </a:defRPr>
            </a:pPr>
            <a:r>
              <a:rPr sz="1300">
                <a:solidFill>
                  <a:srgbClr val="1B2B2D"/>
                </a:solidFill>
              </a:rPr>
              <a:t>4. Check the mortgage estimate and grant eligibility views for next-step guidance.</a:t>
            </a:r>
          </a:p>
        </p:txBody>
      </p:sp>
      <p:pic>
        <p:nvPicPr>
          <p:cNvPr id="4" name="Picture 3" descr="homepilot_thumbn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1417320"/>
            <a:ext cx="4846320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spcBef="12700" spcAft="12700"/>
            <a:r>
              <a:rPr sz="2800" b="1">
                <a:solidFill>
                  <a:srgbClr val="1B2B2D"/>
                </a:solidFill>
              </a:rPr>
              <a:t>Architecture</a:t>
            </a:r>
          </a:p>
          <a:p>
            <a:pPr spcBef="12700" spcAft="12700"/>
            <a:r>
              <a:rPr sz="1300">
                <a:solidFill>
                  <a:srgbClr val="5A6E70"/>
                </a:solidFill>
              </a:rPr>
              <a:t>Built as a full-stack MVP with future AI integrations in mind.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00200"/>
            <a:ext cx="5669280" cy="43891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spcBef="63500" spcAft="63500">
              <a:defRPr sz="2100">
                <a:solidFill>
                  <a:srgbClr val="1B2B2D"/>
                </a:solidFill>
              </a:defRPr>
            </a:pPr>
            <a:r>
              <a:rPr sz="1300">
                <a:solidFill>
                  <a:srgbClr val="1B2B2D"/>
                </a:solidFill>
              </a:rPr>
              <a:t>Flutter frontend with login, profile setup, dashboard, listings, grants, saved homes, and mortgage views.</a:t>
            </a:r>
          </a:p>
          <a:p>
            <a:pPr spcBef="63500" spcAft="63500">
              <a:defRPr sz="2100">
                <a:solidFill>
                  <a:srgbClr val="1B2B2D"/>
                </a:solidFill>
              </a:defRPr>
            </a:pPr>
            <a:r>
              <a:rPr sz="1300">
                <a:solidFill>
                  <a:srgbClr val="1B2B2D"/>
                </a:solidFill>
              </a:rPr>
              <a:t>Spring Boot backend with JWT auth, REST APIs, repository/service architecture, and seeded datasets.</a:t>
            </a:r>
          </a:p>
          <a:p>
            <a:pPr spcBef="63500" spcAft="63500">
              <a:defRPr sz="2100">
                <a:solidFill>
                  <a:srgbClr val="1B2B2D"/>
                </a:solidFill>
              </a:defRPr>
            </a:pPr>
            <a:r>
              <a:rPr sz="1300">
                <a:solidFill>
                  <a:srgbClr val="1B2B2D"/>
                </a:solidFill>
              </a:rPr>
              <a:t>Modular agent connectors for affordability, grants, recommendations, and mortgage estimation.</a:t>
            </a:r>
          </a:p>
          <a:p>
            <a:pPr spcBef="63500" spcAft="63500">
              <a:defRPr sz="2100">
                <a:solidFill>
                  <a:srgbClr val="1B2B2D"/>
                </a:solidFill>
              </a:defRPr>
            </a:pPr>
            <a:r>
              <a:rPr sz="1300">
                <a:solidFill>
                  <a:srgbClr val="1B2B2D"/>
                </a:solidFill>
              </a:rPr>
              <a:t>Designed to plug into Google Maps, Plaid, Zillow/Realtor data, and Vertex AI or Gemini later.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0" y="1737360"/>
            <a:ext cx="2011680" cy="914400"/>
          </a:xfrm>
          <a:prstGeom prst="roundRect">
            <a:avLst/>
          </a:prstGeom>
          <a:solidFill>
            <a:srgbClr val="E59B3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>
              <a:defRPr b="1" sz="1800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Flutter App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915400" y="1737360"/>
            <a:ext cx="2011680" cy="914400"/>
          </a:xfrm>
          <a:prstGeom prst="roundRect">
            <a:avLst/>
          </a:prstGeom>
          <a:solidFill>
            <a:srgbClr val="12605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>
              <a:defRPr b="1" sz="1800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Spring Boot API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0" y="3154680"/>
            <a:ext cx="2011680" cy="914400"/>
          </a:xfrm>
          <a:prstGeom prst="roundRect">
            <a:avLst/>
          </a:prstGeom>
          <a:solidFill>
            <a:srgbClr val="1B2B2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>
              <a:defRPr b="1" sz="1800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Agent Connectors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3154680"/>
            <a:ext cx="2011680" cy="914400"/>
          </a:xfrm>
          <a:prstGeom prst="roundRect">
            <a:avLst/>
          </a:prstGeom>
          <a:solidFill>
            <a:srgbClr val="5E7C7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>
              <a:defRPr b="1" sz="1800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Future APIs</a:t>
            </a:r>
          </a:p>
        </p:txBody>
      </p:sp>
      <p:cxnSp>
        <p:nvCxnSpPr>
          <p:cNvPr id="99" name="Connector"/>
          <p:cNvCxnSpPr/>
          <p:nvPr/>
        </p:nvCxnSpPr>
        <p:spPr>
          <a:xfrm>
            <a:off x="8595360" y="2194560"/>
            <a:ext cx="320040" cy="0"/>
          </a:xfrm>
          <a:prstGeom prst="straightConnector1">
            <a:avLst/>
          </a:prstGeom>
          <a:ln w="19050">
            <a:solidFill>
              <a:srgbClr val="2A9D8F"/>
            </a:solidFill>
            <a:headEnd type="none"/>
            <a:tailEnd type="arrow"/>
          </a:ln>
        </p:spPr>
      </p:cxnSp>
      <p:cxnSp>
        <p:nvCxnSpPr>
          <p:cNvPr id="99" name="Connector"/>
          <p:cNvCxnSpPr/>
          <p:nvPr/>
        </p:nvCxnSpPr>
        <p:spPr>
          <a:xfrm>
            <a:off x="7589520" y="2651760"/>
            <a:ext cx="0" cy="502920"/>
          </a:xfrm>
          <a:prstGeom prst="straightConnector1">
            <a:avLst/>
          </a:prstGeom>
          <a:ln w="19050">
            <a:solidFill>
              <a:srgbClr val="2A9D8F"/>
            </a:solidFill>
            <a:headEnd type="none"/>
            <a:tailEnd type="arrow"/>
          </a:ln>
        </p:spPr>
      </p:cxnSp>
      <p:cxnSp>
        <p:nvCxnSpPr>
          <p:cNvPr id="99" name="Connector"/>
          <p:cNvCxnSpPr/>
          <p:nvPr/>
        </p:nvCxnSpPr>
        <p:spPr>
          <a:xfrm>
            <a:off x="8595360" y="3611880"/>
            <a:ext cx="320040" cy="0"/>
          </a:xfrm>
          <a:prstGeom prst="straightConnector1">
            <a:avLst/>
          </a:prstGeom>
          <a:ln w="19050">
            <a:solidFill>
              <a:srgbClr val="2A9D8F"/>
            </a:solidFill>
            <a:headEnd type="none"/>
            <a:tailEnd type="arrow"/>
          </a:ln>
        </p:spPr>
      </p:cxnSp>
      <p:cxnSp>
        <p:nvCxnSpPr>
          <p:cNvPr id="99" name="Connector"/>
          <p:cNvCxnSpPr/>
          <p:nvPr/>
        </p:nvCxnSpPr>
        <p:spPr>
          <a:xfrm>
            <a:off x="9921240" y="2651760"/>
            <a:ext cx="0" cy="502920"/>
          </a:xfrm>
          <a:prstGeom prst="straightConnector1">
            <a:avLst/>
          </a:prstGeom>
          <a:ln w="19050">
            <a:solidFill>
              <a:srgbClr val="2A9D8F"/>
            </a:solidFill>
            <a:headEnd type="none"/>
            <a:tailEnd type="arrow"/>
          </a:ln>
        </p:spPr>
      </p:cxn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spcBef="12700" spcAft="12700"/>
            <a:r>
              <a:rPr sz="2800" b="1">
                <a:solidFill>
                  <a:srgbClr val="1B2B2D"/>
                </a:solidFill>
              </a:rPr>
              <a:t>Demo Reliability</a:t>
            </a:r>
          </a:p>
          <a:p>
            <a:pPr spcBef="12700" spcAft="12700"/>
            <a:r>
              <a:rPr sz="1300">
                <a:solidFill>
                  <a:srgbClr val="5A6E70"/>
                </a:solidFill>
              </a:rPr>
              <a:t>We built fallbacks so the presentation still works under pressure.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00200"/>
            <a:ext cx="10515600" cy="43891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spcBef="63500" spcAft="63500">
              <a:defRPr sz="2100">
                <a:solidFill>
                  <a:srgbClr val="1B2B2D"/>
                </a:solidFill>
              </a:defRPr>
            </a:pPr>
            <a:r>
              <a:rPr sz="1300">
                <a:solidFill>
                  <a:srgbClr val="1B2B2D"/>
                </a:solidFill>
              </a:rPr>
              <a:t>Seeded demo credentials: demo@homepilot.ai / HomePilot123!</a:t>
            </a:r>
          </a:p>
          <a:p>
            <a:pPr spcBef="63500" spcAft="63500">
              <a:defRPr sz="2100">
                <a:solidFill>
                  <a:srgbClr val="1B2B2D"/>
                </a:solidFill>
              </a:defRPr>
            </a:pPr>
            <a:r>
              <a:rPr sz="1300">
                <a:solidFill>
                  <a:srgbClr val="1B2B2D"/>
                </a:solidFill>
              </a:rPr>
              <a:t>Backend defaults to embedded H2 for local startup, with PostgreSQL still supported for deployment.</a:t>
            </a:r>
          </a:p>
          <a:p>
            <a:pPr spcBef="63500" spcAft="63500">
              <a:defRPr sz="2100">
                <a:solidFill>
                  <a:srgbClr val="1B2B2D"/>
                </a:solidFill>
              </a:defRPr>
            </a:pPr>
            <a:r>
              <a:rPr sz="1300">
                <a:solidFill>
                  <a:srgbClr val="1B2B2D"/>
                </a:solidFill>
              </a:rPr>
              <a:t>Flutter automatically uses platform-aware local API hosts for Android, iOS, macOS, and web.</a:t>
            </a:r>
          </a:p>
          <a:p>
            <a:pPr spcBef="63500" spcAft="63500">
              <a:defRPr sz="2100">
                <a:solidFill>
                  <a:srgbClr val="1B2B2D"/>
                </a:solidFill>
              </a:defRPr>
            </a:pPr>
            <a:r>
              <a:rPr sz="1300">
                <a:solidFill>
                  <a:srgbClr val="1B2B2D"/>
                </a:solidFill>
              </a:rPr>
              <a:t>If the API is temporarily unreachable, the demo account switches to local sample data for a smooth walkthrough.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spcBef="12700" spcAft="12700"/>
            <a:r>
              <a:rPr sz="2800" b="1">
                <a:solidFill>
                  <a:srgbClr val="1B2B2D"/>
                </a:solidFill>
              </a:rPr>
              <a:t>Why This Matters</a:t>
            </a:r>
          </a:p>
          <a:p>
            <a:pPr spcBef="12700" spcAft="12700"/>
            <a:r>
              <a:rPr sz="1300">
                <a:solidFill>
                  <a:srgbClr val="5A6E70"/>
                </a:solidFill>
              </a:rPr>
              <a:t>HomePilot AI can grow from MVP to real housing-support product.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00200"/>
            <a:ext cx="10515600" cy="2560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spcBef="63500" spcAft="63500">
              <a:defRPr sz="2100">
                <a:solidFill>
                  <a:srgbClr val="1B2B2D"/>
                </a:solidFill>
              </a:defRPr>
            </a:pPr>
            <a:r>
              <a:rPr sz="1300">
                <a:solidFill>
                  <a:srgbClr val="1B2B2D"/>
                </a:solidFill>
              </a:rPr>
              <a:t>Immediate use cases: hackathon demo, research tool, civic-tech prototype, or prop-tech portfolio piece.</a:t>
            </a:r>
          </a:p>
          <a:p>
            <a:pPr spcBef="63500" spcAft="63500">
              <a:defRPr sz="2100">
                <a:solidFill>
                  <a:srgbClr val="1B2B2D"/>
                </a:solidFill>
              </a:defRPr>
            </a:pPr>
            <a:r>
              <a:rPr sz="1300">
                <a:solidFill>
                  <a:srgbClr val="1B2B2D"/>
                </a:solidFill>
              </a:rPr>
              <a:t>Next upgrades: live listings, geospatial search, bank data, document parsing, and grant-policy expansion.</a:t>
            </a:r>
          </a:p>
          <a:p>
            <a:pPr spcBef="63500" spcAft="63500">
              <a:defRPr sz="2100">
                <a:solidFill>
                  <a:srgbClr val="1B2B2D"/>
                </a:solidFill>
              </a:defRPr>
            </a:pPr>
            <a:r>
              <a:rPr sz="1300">
                <a:solidFill>
                  <a:srgbClr val="1B2B2D"/>
                </a:solidFill>
              </a:rPr>
              <a:t>North star: give more people a trustworthy path to stable housing.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343400"/>
            <a:ext cx="10881360" cy="822960"/>
          </a:xfrm>
          <a:prstGeom prst="rect">
            <a:avLst/>
          </a:prstGeom>
          <a:solidFill>
            <a:srgbClr val="E1EFE9"/>
          </a:solidFill>
        </p:spPr>
        <p:txBody>
          <a:bodyPr wrap="square">
            <a:normAutofit/>
          </a:bodyPr>
          <a:lstStyle/>
          <a:p>
            <a:pPr algn="ctr" spcBef="76200" spcAft="76200">
              <a:defRPr sz="2400" b="1">
                <a:solidFill>
                  <a:srgbClr val="12605D"/>
                </a:solidFill>
              </a:defRPr>
            </a:pPr>
            <a:r>
              <a:rPr sz="1400" b="1">
                <a:solidFill>
                  <a:srgbClr val="1B2B2D"/>
                </a:solidFill>
              </a:rPr>
              <a:t>HomePilot AI makes housing guidance more accessible, actionable, and equitable.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